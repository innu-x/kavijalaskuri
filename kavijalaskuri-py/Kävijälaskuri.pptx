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3" r:id="rId1"/>
  </p:sldMasterIdLst>
  <p:notesMasterIdLst>
    <p:notesMasterId r:id="rId9"/>
  </p:notesMasterIdLst>
  <p:sldIdLst>
    <p:sldId id="259" r:id="rId2"/>
    <p:sldId id="258" r:id="rId3"/>
    <p:sldId id="260" r:id="rId4"/>
    <p:sldId id="265" r:id="rId5"/>
    <p:sldId id="261" r:id="rId6"/>
    <p:sldId id="263" r:id="rId7"/>
    <p:sldId id="264" r:id="rId8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97"/>
    <p:restoredTop sz="94613"/>
  </p:normalViewPr>
  <p:slideViewPr>
    <p:cSldViewPr snapToGrid="0">
      <p:cViewPr varScale="1">
        <p:scale>
          <a:sx n="107" d="100"/>
          <a:sy n="107" d="100"/>
        </p:scale>
        <p:origin x="1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B99A0-342A-ED48-BB90-CFDB82CA00E9}" type="datetimeFigureOut">
              <a:rPr lang="fi-FI" smtClean="0"/>
              <a:t>27.5.2026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C55B5-92E7-BA40-A24D-A996C77C240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93634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C55B5-92E7-BA40-A24D-A996C77C2400}" type="slidenum">
              <a:rPr lang="fi-FI" smtClean="0"/>
              <a:t>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96942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FDB89-FBDB-D2D5-08CA-AC878113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803728BE-E9EA-03C7-56C0-9E115311A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D67D4039-7995-BD68-F257-B84B8FA7D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CB6B14E8-C885-847A-7403-04210A52E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C55B5-92E7-BA40-A24D-A996C77C2400}" type="slidenum">
              <a:rPr lang="fi-FI" smtClean="0"/>
              <a:t>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943971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C55B5-92E7-BA40-A24D-A996C77C2400}" type="slidenum">
              <a:rPr lang="fi-FI" smtClean="0"/>
              <a:t>5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21878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B0A3F-3EE2-C39A-C687-7D5691303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267D35CE-2EF6-8BD5-4521-D641A8F32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C734E047-79DF-EED8-973C-D700B8D23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5F866321-3149-7458-0431-CD55CBBA7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C55B5-92E7-BA40-A24D-A996C77C2400}" type="slidenum">
              <a:rPr lang="fi-FI" smtClean="0"/>
              <a:t>6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49989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6BCA0-A65A-4ABE-7BCD-ADFED7B20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F3586C4E-AF2C-8507-0C30-7FC540BC9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23825DCB-318A-411C-51F0-0FCF9D674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26A903DE-936D-5C29-F92E-A07730FE6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C55B5-92E7-BA40-A24D-A996C77C2400}" type="slidenum">
              <a:rPr lang="fi-FI" smtClean="0"/>
              <a:t>7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80390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13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9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79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42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02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79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06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4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5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59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47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671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82" r:id="rId6"/>
    <p:sldLayoutId id="2147483677" r:id="rId7"/>
    <p:sldLayoutId id="2147483678" r:id="rId8"/>
    <p:sldLayoutId id="2147483679" r:id="rId9"/>
    <p:sldLayoutId id="2147483681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731AC-4789-5120-D15B-10CF1B0D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9C7C93E4-63C3-3BBE-12E7-4E24F42D1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8A74162-96FB-B361-F95F-1F340424D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Tietokoneen komentosarja näytöllä">
            <a:extLst>
              <a:ext uri="{FF2B5EF4-FFF2-40B4-BE49-F238E27FC236}">
                <a16:creationId xmlns:a16="http://schemas.microsoft.com/office/drawing/2014/main" id="{663189A3-B0EB-DD19-358D-D8D72E743D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73" t="10766" r="1" b="9408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772F3843-C173-0028-D3AA-8C165911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DF61AA4D-B3B3-7F14-5CFA-0389DBE93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2971" y="908651"/>
            <a:ext cx="6087645" cy="4171779"/>
          </a:xfrm>
        </p:spPr>
        <p:txBody>
          <a:bodyPr anchor="t">
            <a:normAutofit/>
          </a:bodyPr>
          <a:lstStyle/>
          <a:p>
            <a:pPr algn="ctr"/>
            <a:r>
              <a:rPr lang="fi-FI" sz="4800" dirty="0"/>
              <a:t>kävijälaskuri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1A836384-388F-8FE9-1F51-64C1DCF56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216955"/>
            <a:ext cx="5804616" cy="1003638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Iina Hirvonen 2026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04096B3-B988-A7B5-E7B0-5610F2F19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6232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108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139AE4-E000-F65F-E2F3-430D7C692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6">
            <a:extLst>
              <a:ext uri="{FF2B5EF4-FFF2-40B4-BE49-F238E27FC236}">
                <a16:creationId xmlns:a16="http://schemas.microsoft.com/office/drawing/2014/main" id="{6D797655-831F-9D6D-5B9B-8CB47DFF2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28">
            <a:extLst>
              <a:ext uri="{FF2B5EF4-FFF2-40B4-BE49-F238E27FC236}">
                <a16:creationId xmlns:a16="http://schemas.microsoft.com/office/drawing/2014/main" id="{05C6316B-B5E8-E332-7232-5E8B3E23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51E7180A-078C-F541-9FD9-6E8415F36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2"/>
            <a:ext cx="3620882" cy="1301148"/>
          </a:xfrm>
        </p:spPr>
        <p:txBody>
          <a:bodyPr anchor="t">
            <a:normAutofit/>
          </a:bodyPr>
          <a:lstStyle/>
          <a:p>
            <a:r>
              <a:rPr lang="en-US" sz="2800" dirty="0"/>
              <a:t>Tarkoitus</a:t>
            </a:r>
            <a:endParaRPr lang="fi-FI" sz="2800" b="1" dirty="0"/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1D01FB40-E186-1497-E084-9BBFDFCF5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2656114"/>
            <a:ext cx="3380437" cy="3139990"/>
          </a:xfr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Ohjelman tarkoitus on helpottaa kävijöiden laskemista ja tilastointia esim. vapaa-ajan toimintapisteissä. Käyttäjä voi tallentaa tiedot nopeasti yhdellä painalluksella ilman monimutkaisia lomakkeita/ hankalia sisään kirjautumisia</a:t>
            </a:r>
          </a:p>
        </p:txBody>
      </p:sp>
      <p:cxnSp>
        <p:nvCxnSpPr>
          <p:cNvPr id="35" name="Straight Connector 30">
            <a:extLst>
              <a:ext uri="{FF2B5EF4-FFF2-40B4-BE49-F238E27FC236}">
                <a16:creationId xmlns:a16="http://schemas.microsoft.com/office/drawing/2014/main" id="{1A6D7618-945D-D01D-0CE4-2C27182E2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Tietokoneen komentosarja näytöllä">
            <a:extLst>
              <a:ext uri="{FF2B5EF4-FFF2-40B4-BE49-F238E27FC236}">
                <a16:creationId xmlns:a16="http://schemas.microsoft.com/office/drawing/2014/main" id="{22D79FCD-DC0C-2B6E-54A1-27F64DB034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793" b="-1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486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63DBF-0AB3-83EB-52E3-BC549AEAB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6">
            <a:extLst>
              <a:ext uri="{FF2B5EF4-FFF2-40B4-BE49-F238E27FC236}">
                <a16:creationId xmlns:a16="http://schemas.microsoft.com/office/drawing/2014/main" id="{89D84CD1-682B-5D44-D823-E451B23B0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28">
            <a:extLst>
              <a:ext uri="{FF2B5EF4-FFF2-40B4-BE49-F238E27FC236}">
                <a16:creationId xmlns:a16="http://schemas.microsoft.com/office/drawing/2014/main" id="{34D806A7-FBCB-6E3E-0717-8FD228046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9A9BDBA6-55E4-087C-03B0-10D880CC2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2"/>
            <a:ext cx="3620882" cy="1301148"/>
          </a:xfrm>
        </p:spPr>
        <p:txBody>
          <a:bodyPr anchor="t">
            <a:normAutofit/>
          </a:bodyPr>
          <a:lstStyle/>
          <a:p>
            <a:r>
              <a:rPr lang="fi-FI" sz="2800" b="1" dirty="0"/>
              <a:t>Kiinnostavimmat kohdat koodissa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787C5A07-40CC-7AAD-994A-941583C99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1969477"/>
            <a:ext cx="3380437" cy="4164623"/>
          </a:xfr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i-FI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os.makedirs</a:t>
            </a: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(	        "raportit",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i-FI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exist_ok</a:t>
            </a: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fi-FI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endParaRPr lang="fi-FI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    )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#luodaan kansio raportit, ei haittaa vaikka olisi jo olemassa</a:t>
            </a:r>
          </a:p>
          <a:p>
            <a:pPr>
              <a:lnSpc>
                <a:spcPct val="100000"/>
              </a:lnSpc>
            </a:pPr>
            <a:endParaRPr lang="fi-FI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i-FI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ikkuna.after</a:t>
            </a: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    2000,                                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    lambda: </a:t>
            </a:r>
            <a:r>
              <a:rPr lang="fi-FI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status_label.config</a:t>
            </a: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i-FI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="")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#ilmoituksen häviämisen viive</a:t>
            </a:r>
          </a:p>
        </p:txBody>
      </p:sp>
      <p:cxnSp>
        <p:nvCxnSpPr>
          <p:cNvPr id="35" name="Straight Connector 30">
            <a:extLst>
              <a:ext uri="{FF2B5EF4-FFF2-40B4-BE49-F238E27FC236}">
                <a16:creationId xmlns:a16="http://schemas.microsoft.com/office/drawing/2014/main" id="{56876A27-A77E-F8BC-622B-D8BB30826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Tietokoneen komentosarja näytöllä">
            <a:extLst>
              <a:ext uri="{FF2B5EF4-FFF2-40B4-BE49-F238E27FC236}">
                <a16:creationId xmlns:a16="http://schemas.microsoft.com/office/drawing/2014/main" id="{B32D3FF8-4740-4399-C869-AE611531C6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793" b="-1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2607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4367AA-7FD8-48A7-209A-DB0860B7A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6">
            <a:extLst>
              <a:ext uri="{FF2B5EF4-FFF2-40B4-BE49-F238E27FC236}">
                <a16:creationId xmlns:a16="http://schemas.microsoft.com/office/drawing/2014/main" id="{E52A6D89-4B5F-A1EA-0B5A-BE6451262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28">
            <a:extLst>
              <a:ext uri="{FF2B5EF4-FFF2-40B4-BE49-F238E27FC236}">
                <a16:creationId xmlns:a16="http://schemas.microsoft.com/office/drawing/2014/main" id="{6E75BD0F-10E9-8D99-5C70-46EB994D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F594A0AD-8126-ABCB-772F-21C4F28A8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2"/>
            <a:ext cx="3620882" cy="1301148"/>
          </a:xfrm>
        </p:spPr>
        <p:txBody>
          <a:bodyPr anchor="t">
            <a:normAutofit/>
          </a:bodyPr>
          <a:lstStyle/>
          <a:p>
            <a:r>
              <a:rPr lang="fi-FI" sz="2800" b="1" dirty="0"/>
              <a:t>Tärkeimmät funktiot</a:t>
            </a:r>
          </a:p>
        </p:txBody>
      </p:sp>
      <p:cxnSp>
        <p:nvCxnSpPr>
          <p:cNvPr id="35" name="Straight Connector 30">
            <a:extLst>
              <a:ext uri="{FF2B5EF4-FFF2-40B4-BE49-F238E27FC236}">
                <a16:creationId xmlns:a16="http://schemas.microsoft.com/office/drawing/2014/main" id="{FA2CBEA9-BD6F-BF84-AE41-5E17D90F2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Tietokoneen komentosarja näytöllä">
            <a:extLst>
              <a:ext uri="{FF2B5EF4-FFF2-40B4-BE49-F238E27FC236}">
                <a16:creationId xmlns:a16="http://schemas.microsoft.com/office/drawing/2014/main" id="{5F7BFF13-2DD6-50FA-B106-021E2951D9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793" b="-1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ACC07616-3849-A337-3ACC-47579A1EEFE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03400" y="2763883"/>
            <a:ext cx="375615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i-FI" altLang="fi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i-FI" altLang="fi-FI" sz="1200" b="0" i="0" u="none" strike="noStrike" cap="none" normalizeH="0" baseline="0" dirty="0" err="1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lisaa_kavija</a:t>
            </a:r>
            <a:r>
              <a:rPr kumimoji="0" lang="fi-FI" altLang="fi-FI" sz="12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i-FI" altLang="fi-FI" sz="12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Tallentaa yhden kävijän tiedot.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i-FI" altLang="fi-FI" sz="1200" b="0" i="0" u="none" strike="noStrike" cap="none" normalizeH="0" baseline="0" dirty="0">
              <a:ln>
                <a:noFill/>
              </a:ln>
              <a:solidFill>
                <a:srgbClr val="F0F6F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i-FI" altLang="fi-FI" sz="1200" b="0" i="0" u="none" strike="noStrike" cap="none" normalizeH="0" baseline="0" dirty="0" err="1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tallenna_data</a:t>
            </a:r>
            <a:r>
              <a:rPr kumimoji="0" lang="fi-FI" altLang="fi-FI" sz="12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i-FI" altLang="fi-FI" sz="12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Tallentaa datan </a:t>
            </a:r>
            <a:r>
              <a:rPr kumimoji="0" lang="fi-FI" altLang="fi-FI" sz="1200" b="0" i="0" u="none" strike="noStrike" cap="none" normalizeH="0" baseline="0" dirty="0" err="1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data.json</a:t>
            </a:r>
            <a:r>
              <a:rPr kumimoji="0" lang="fi-FI" altLang="fi-FI" sz="12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-tiedostoon.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i-FI" altLang="fi-FI" sz="1200" b="0" i="0" u="none" strike="noStrike" cap="none" normalizeH="0" baseline="0" dirty="0">
              <a:ln>
                <a:noFill/>
              </a:ln>
              <a:solidFill>
                <a:srgbClr val="F0F6F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i-FI" altLang="fi-FI" sz="1200" b="0" i="0" u="none" strike="noStrike" cap="none" normalizeH="0" baseline="0" dirty="0" err="1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lataa_data</a:t>
            </a:r>
            <a:r>
              <a:rPr kumimoji="0" lang="fi-FI" altLang="fi-FI" sz="12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i-FI" altLang="fi-FI" sz="12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Lataa aiemmin tallennetut tiedot.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i-FI" altLang="fi-FI" sz="1200" b="0" i="0" u="none" strike="noStrike" cap="none" normalizeH="0" baseline="0" dirty="0">
              <a:ln>
                <a:noFill/>
              </a:ln>
              <a:solidFill>
                <a:srgbClr val="F0F6F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i-FI" altLang="fi-FI" sz="1200" b="0" i="0" u="none" strike="noStrike" cap="none" normalizeH="0" baseline="0" dirty="0" err="1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laske_kuukausitilastot</a:t>
            </a:r>
            <a:r>
              <a:rPr kumimoji="0" lang="fi-FI" altLang="fi-FI" sz="12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i-FI" altLang="fi-FI" sz="12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Laskee kuukausittaiset tilastot.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i-FI" altLang="fi-FI" sz="1200" b="0" i="0" u="none" strike="noStrike" cap="none" normalizeH="0" baseline="0" dirty="0">
              <a:ln>
                <a:noFill/>
              </a:ln>
              <a:solidFill>
                <a:srgbClr val="F0F6F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i-FI" altLang="fi-FI" sz="1200" b="0" i="0" u="none" strike="noStrike" cap="none" normalizeH="0" baseline="0" dirty="0" err="1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laske_kvartaalitilastot</a:t>
            </a:r>
            <a:r>
              <a:rPr kumimoji="0" lang="fi-FI" altLang="fi-FI" sz="12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i-FI" altLang="fi-FI" sz="1200" dirty="0">
                <a:solidFill>
                  <a:srgbClr val="F0F6F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 </a:t>
            </a:r>
            <a:r>
              <a:rPr kumimoji="0" lang="fi-FI" altLang="fi-FI" sz="12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Laskee kvartaalikohtaiset tilastot.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i-FI" altLang="fi-FI" sz="1200" b="0" i="0" u="none" strike="noStrike" cap="none" normalizeH="0" baseline="0" dirty="0">
              <a:ln>
                <a:noFill/>
              </a:ln>
              <a:solidFill>
                <a:srgbClr val="F0F6FC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i-FI" altLang="fi-FI" sz="12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Tiedostotallennus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i-FI" altLang="fi-FI" sz="12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Tallennus tapahtuu tiedostoon: </a:t>
            </a:r>
            <a:r>
              <a:rPr kumimoji="0" lang="fi-FI" altLang="fi-FI" sz="1200" b="0" i="0" u="none" strike="noStrike" cap="none" normalizeH="0" baseline="0" dirty="0" err="1">
                <a:ln>
                  <a:noFill/>
                </a:ln>
                <a:solidFill>
                  <a:srgbClr val="F0F6F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data.json</a:t>
            </a:r>
            <a:endParaRPr lang="fi-FI" altLang="fi-FI" sz="1200" dirty="0">
              <a:solidFill>
                <a:srgbClr val="F0F6FC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91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2424D2-975A-4743-41E3-D69C2D15E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6">
            <a:extLst>
              <a:ext uri="{FF2B5EF4-FFF2-40B4-BE49-F238E27FC236}">
                <a16:creationId xmlns:a16="http://schemas.microsoft.com/office/drawing/2014/main" id="{86A9F0FE-0911-ED99-4DAF-8C3B128EF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28">
            <a:extLst>
              <a:ext uri="{FF2B5EF4-FFF2-40B4-BE49-F238E27FC236}">
                <a16:creationId xmlns:a16="http://schemas.microsoft.com/office/drawing/2014/main" id="{CE300D69-38B0-8C8E-18BC-5147672A9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76F6037A-1BC9-C555-A68E-18935342C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2"/>
            <a:ext cx="3620882" cy="1301148"/>
          </a:xfrm>
        </p:spPr>
        <p:txBody>
          <a:bodyPr anchor="t">
            <a:normAutofit/>
          </a:bodyPr>
          <a:lstStyle/>
          <a:p>
            <a:r>
              <a:rPr lang="fi-FI" sz="2800" b="1" dirty="0"/>
              <a:t>Mitä opin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1F8DD9F3-A568-CDA1-BA5A-22A1382FEF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2656114"/>
            <a:ext cx="3380437" cy="3139990"/>
          </a:xfr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Ulkoasun muokkaaminen halutuksi on aikaa vievää. Pienetkin asiat vaikuttavat paljon.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Miten ilmoitus saadaan häviämään.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Lambda –funktion käytön (käytetään yleensä väliaikaisena funktiona, kun tarvitaan lyhyttä logiikkaa jota ei käytetä kuin yhdessä paikassa, eikä sille tarvitse antaa nimeä).</a:t>
            </a:r>
          </a:p>
        </p:txBody>
      </p:sp>
      <p:cxnSp>
        <p:nvCxnSpPr>
          <p:cNvPr id="35" name="Straight Connector 30">
            <a:extLst>
              <a:ext uri="{FF2B5EF4-FFF2-40B4-BE49-F238E27FC236}">
                <a16:creationId xmlns:a16="http://schemas.microsoft.com/office/drawing/2014/main" id="{948CE341-5FC5-AEFF-EDB4-2EBE653F0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Tietokoneen komentosarja näytöllä">
            <a:extLst>
              <a:ext uri="{FF2B5EF4-FFF2-40B4-BE49-F238E27FC236}">
                <a16:creationId xmlns:a16="http://schemas.microsoft.com/office/drawing/2014/main" id="{CBF3BD9B-C357-017D-AAD2-96A75D5B0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793" b="-1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7499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5499FE-0850-FF70-ED28-210109DB8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6">
            <a:extLst>
              <a:ext uri="{FF2B5EF4-FFF2-40B4-BE49-F238E27FC236}">
                <a16:creationId xmlns:a16="http://schemas.microsoft.com/office/drawing/2014/main" id="{E1FCB1A4-45AE-8DB7-441E-91CBFCA1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28">
            <a:extLst>
              <a:ext uri="{FF2B5EF4-FFF2-40B4-BE49-F238E27FC236}">
                <a16:creationId xmlns:a16="http://schemas.microsoft.com/office/drawing/2014/main" id="{0986F0EF-D16B-4D12-DDEE-27EE96F6F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3A08756B-8068-C13A-757A-9BA275F79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2"/>
            <a:ext cx="3620882" cy="1301148"/>
          </a:xfrm>
        </p:spPr>
        <p:txBody>
          <a:bodyPr anchor="t">
            <a:normAutofit fontScale="90000"/>
          </a:bodyPr>
          <a:lstStyle/>
          <a:p>
            <a:r>
              <a:rPr lang="fi-FI" sz="2800" b="1" dirty="0"/>
              <a:t>Mitä haluisin tehdä jos olisi enemmän aikaa ja osaamista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64A77749-9786-D700-B7CB-E0298C2BA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2656114"/>
            <a:ext cx="3380437" cy="3139990"/>
          </a:xfr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Haluaisin piilottaa tallennetut tiedostot salasanan taakse.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Tehdä toimivan apin/verkkosivun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Lisäisin myös vaihtoehdot kieliin EN, FI, SV</a:t>
            </a:r>
          </a:p>
        </p:txBody>
      </p:sp>
      <p:cxnSp>
        <p:nvCxnSpPr>
          <p:cNvPr id="35" name="Straight Connector 30">
            <a:extLst>
              <a:ext uri="{FF2B5EF4-FFF2-40B4-BE49-F238E27FC236}">
                <a16:creationId xmlns:a16="http://schemas.microsoft.com/office/drawing/2014/main" id="{9C78506A-AFB3-779A-DFA2-85C17376C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Tietokoneen komentosarja näytöllä">
            <a:extLst>
              <a:ext uri="{FF2B5EF4-FFF2-40B4-BE49-F238E27FC236}">
                <a16:creationId xmlns:a16="http://schemas.microsoft.com/office/drawing/2014/main" id="{8F3AF94D-703F-B5D0-086B-671EFEDA1F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793" b="-1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848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A5FABA-EAE5-4044-4099-470B78CF3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6">
            <a:extLst>
              <a:ext uri="{FF2B5EF4-FFF2-40B4-BE49-F238E27FC236}">
                <a16:creationId xmlns:a16="http://schemas.microsoft.com/office/drawing/2014/main" id="{B01BD09F-2A03-224D-192E-C2168114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28">
            <a:extLst>
              <a:ext uri="{FF2B5EF4-FFF2-40B4-BE49-F238E27FC236}">
                <a16:creationId xmlns:a16="http://schemas.microsoft.com/office/drawing/2014/main" id="{24E2FB04-19D2-CA62-A65E-6FA36DB8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96284540-FAE3-1710-CB22-60AFF30AE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2"/>
            <a:ext cx="2088478" cy="1301099"/>
          </a:xfrm>
        </p:spPr>
        <p:txBody>
          <a:bodyPr anchor="t">
            <a:normAutofit/>
          </a:bodyPr>
          <a:lstStyle/>
          <a:p>
            <a:r>
              <a:rPr lang="fi-FI" sz="2800" b="1" dirty="0"/>
              <a:t>Miltä </a:t>
            </a:r>
            <a:br>
              <a:rPr lang="fi-FI" sz="2800" b="1" dirty="0"/>
            </a:br>
            <a:r>
              <a:rPr lang="fi-FI" sz="2800" b="1" dirty="0"/>
              <a:t>näyttää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FC125FC5-C38A-D3EF-E2E1-C19726B82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399" y="2394551"/>
            <a:ext cx="2039801" cy="4082492"/>
          </a:xfr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Kuvissa: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Kävijälaskuri ikkuna</a:t>
            </a:r>
          </a:p>
          <a:p>
            <a:pPr>
              <a:lnSpc>
                <a:spcPct val="100000"/>
              </a:lnSpc>
            </a:pPr>
            <a:r>
              <a:rPr lang="fi-FI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Data.json</a:t>
            </a: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 tiedosto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Kuukausi- ja kvartaaliraportti</a:t>
            </a:r>
          </a:p>
        </p:txBody>
      </p:sp>
      <p:cxnSp>
        <p:nvCxnSpPr>
          <p:cNvPr id="35" name="Straight Connector 30">
            <a:extLst>
              <a:ext uri="{FF2B5EF4-FFF2-40B4-BE49-F238E27FC236}">
                <a16:creationId xmlns:a16="http://schemas.microsoft.com/office/drawing/2014/main" id="{4E09C9F7-A144-6FE8-FC77-E430E9ED2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Kuva 17">
            <a:extLst>
              <a:ext uri="{FF2B5EF4-FFF2-40B4-BE49-F238E27FC236}">
                <a16:creationId xmlns:a16="http://schemas.microsoft.com/office/drawing/2014/main" id="{55884089-813C-07D4-B76E-DA932C397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231" y="5136113"/>
            <a:ext cx="4289011" cy="1371905"/>
          </a:xfrm>
          <a:prstGeom prst="rect">
            <a:avLst/>
          </a:prstGeom>
        </p:spPr>
      </p:pic>
      <p:pic>
        <p:nvPicPr>
          <p:cNvPr id="20" name="Kuva 19">
            <a:extLst>
              <a:ext uri="{FF2B5EF4-FFF2-40B4-BE49-F238E27FC236}">
                <a16:creationId xmlns:a16="http://schemas.microsoft.com/office/drawing/2014/main" id="{99F8AE06-CBEC-8B22-73C9-59E3096D5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117" y="5136113"/>
            <a:ext cx="4357815" cy="1371905"/>
          </a:xfrm>
          <a:prstGeom prst="rect">
            <a:avLst/>
          </a:prstGeom>
        </p:spPr>
      </p:pic>
      <p:pic>
        <p:nvPicPr>
          <p:cNvPr id="22" name="Kuva 21">
            <a:extLst>
              <a:ext uri="{FF2B5EF4-FFF2-40B4-BE49-F238E27FC236}">
                <a16:creationId xmlns:a16="http://schemas.microsoft.com/office/drawing/2014/main" id="{3E81FE95-7978-C609-2E18-CEC6279AC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117" y="349982"/>
            <a:ext cx="3101565" cy="4641401"/>
          </a:xfrm>
          <a:prstGeom prst="rect">
            <a:avLst/>
          </a:prstGeom>
        </p:spPr>
      </p:pic>
      <p:pic>
        <p:nvPicPr>
          <p:cNvPr id="24" name="Kuva 23">
            <a:extLst>
              <a:ext uri="{FF2B5EF4-FFF2-40B4-BE49-F238E27FC236}">
                <a16:creationId xmlns:a16="http://schemas.microsoft.com/office/drawing/2014/main" id="{EAABC93D-2727-0013-FD88-6DB80B257D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7921" y="349982"/>
            <a:ext cx="5565321" cy="464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1758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4695</TotalTime>
  <Words>237</Words>
  <Application>Microsoft Macintosh PowerPoint</Application>
  <PresentationFormat>Laajakuva</PresentationFormat>
  <Paragraphs>51</Paragraphs>
  <Slides>7</Slides>
  <Notes>5</Notes>
  <HiddenSlides>0</HiddenSlides>
  <MMClips>0</MMClips>
  <ScaleCrop>false</ScaleCrop>
  <HeadingPairs>
    <vt:vector size="6" baseType="variant">
      <vt:variant>
        <vt:lpstr>Käytetyt fontit</vt:lpstr>
      </vt:variant>
      <vt:variant>
        <vt:i4>6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7</vt:i4>
      </vt:variant>
    </vt:vector>
  </HeadingPairs>
  <TitlesOfParts>
    <vt:vector size="14" baseType="lpstr">
      <vt:lpstr>Aptos</vt:lpstr>
      <vt:lpstr>Arial</vt:lpstr>
      <vt:lpstr>Calisto MT</vt:lpstr>
      <vt:lpstr>Consolas</vt:lpstr>
      <vt:lpstr>Neue Haas Grotesk Text Pro</vt:lpstr>
      <vt:lpstr>Univers Condensed</vt:lpstr>
      <vt:lpstr>ChronicleVTI</vt:lpstr>
      <vt:lpstr>kävijälaskuri</vt:lpstr>
      <vt:lpstr>Tarkoitus</vt:lpstr>
      <vt:lpstr>Kiinnostavimmat kohdat koodissa</vt:lpstr>
      <vt:lpstr>Tärkeimmät funktiot</vt:lpstr>
      <vt:lpstr>Mitä opin</vt:lpstr>
      <vt:lpstr>Mitä haluisin tehdä jos olisi enemmän aikaa ja osaamista</vt:lpstr>
      <vt:lpstr>Miltä  näyttää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iina-maria.hirvonen</dc:creator>
  <cp:keywords/>
  <dc:description/>
  <cp:lastModifiedBy>iina-maria.hirvonen</cp:lastModifiedBy>
  <cp:revision>3</cp:revision>
  <dcterms:created xsi:type="dcterms:W3CDTF">2026-05-22T07:24:00Z</dcterms:created>
  <dcterms:modified xsi:type="dcterms:W3CDTF">2026-05-27T09:22:36Z</dcterms:modified>
  <cp:category/>
</cp:coreProperties>
</file>