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3" r:id="rId1"/>
  </p:sldMasterIdLst>
  <p:notesMasterIdLst>
    <p:notesMasterId r:id="rId8"/>
  </p:notesMasterIdLst>
  <p:sldIdLst>
    <p:sldId id="259" r:id="rId2"/>
    <p:sldId id="258" r:id="rId3"/>
    <p:sldId id="260" r:id="rId4"/>
    <p:sldId id="261" r:id="rId5"/>
    <p:sldId id="263" r:id="rId6"/>
    <p:sldId id="264" r:id="rId7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753"/>
    <p:restoredTop sz="94603"/>
  </p:normalViewPr>
  <p:slideViewPr>
    <p:cSldViewPr snapToGrid="0">
      <p:cViewPr varScale="1">
        <p:scale>
          <a:sx n="107" d="100"/>
          <a:sy n="107" d="100"/>
        </p:scale>
        <p:origin x="200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AB99A0-342A-ED48-BB90-CFDB82CA00E9}" type="datetimeFigureOut">
              <a:rPr lang="fi-FI" smtClean="0"/>
              <a:t>25.5.2026</a:t>
            </a:fld>
            <a:endParaRPr lang="fi-FI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i-FI"/>
              <a:t>Muokkaa tekstin perustyylejä napsauttamalla</a:t>
            </a:r>
          </a:p>
          <a:p>
            <a:pPr lvl="1"/>
            <a:r>
              <a:rPr lang="fi-FI"/>
              <a:t>toinen taso</a:t>
            </a:r>
          </a:p>
          <a:p>
            <a:pPr lvl="2"/>
            <a:r>
              <a:rPr lang="fi-FI"/>
              <a:t>kolmas taso</a:t>
            </a:r>
          </a:p>
          <a:p>
            <a:pPr lvl="3"/>
            <a:r>
              <a:rPr lang="fi-FI"/>
              <a:t>neljäs taso</a:t>
            </a:r>
          </a:p>
          <a:p>
            <a:pPr lvl="4"/>
            <a:r>
              <a:rPr lang="fi-FI"/>
              <a:t>viides taso</a:t>
            </a:r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C55B5-92E7-BA40-A24D-A996C77C2400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0936349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1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89694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4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621878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B0A3F-3EE2-C39A-C687-7D5691303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267D35CE-2EF6-8BD5-4521-D641A8F32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C734E047-79DF-EED8-973C-D700B8D232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5F866321-3149-7458-0431-CD55CBBA7A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5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499891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6BCA0-A65A-4ABE-7BCD-ADFED7B20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n kuvan paikkamerkki 1">
            <a:extLst>
              <a:ext uri="{FF2B5EF4-FFF2-40B4-BE49-F238E27FC236}">
                <a16:creationId xmlns:a16="http://schemas.microsoft.com/office/drawing/2014/main" id="{F3586C4E-AF2C-8507-0C30-7FC540BC9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3" name="Huomautusten paikkamerkki 2">
            <a:extLst>
              <a:ext uri="{FF2B5EF4-FFF2-40B4-BE49-F238E27FC236}">
                <a16:creationId xmlns:a16="http://schemas.microsoft.com/office/drawing/2014/main" id="{23825DCB-318A-411C-51F0-0FCF9D6748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 dirty="0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26A903DE-936D-5C29-F92E-A07730FE6B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C55B5-92E7-BA40-A24D-A996C77C2400}" type="slidenum">
              <a:rPr lang="fi-FI" smtClean="0"/>
              <a:t>6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80390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613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9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79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3423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5/22/26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02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5/22/26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479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5/22/26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206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5/22/26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856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5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047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5/22/26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2671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82" r:id="rId6"/>
    <p:sldLayoutId id="2147483677" r:id="rId7"/>
    <p:sldLayoutId id="2147483678" r:id="rId8"/>
    <p:sldLayoutId id="2147483679" r:id="rId9"/>
    <p:sldLayoutId id="2147483681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5731AC-4789-5120-D15B-10CF1B0D1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9C7C93E4-63C3-3BBE-12E7-4E24F42D1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8A74162-96FB-B361-F95F-1F340424D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663189A3-B0EB-DD19-358D-D8D72E743DD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73" t="10766" r="1" b="9408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772F3843-C173-0028-D3AA-8C165911A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DF61AA4D-B3B3-7F14-5CFA-0389DBE93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2971" y="908651"/>
            <a:ext cx="6087645" cy="4171779"/>
          </a:xfrm>
        </p:spPr>
        <p:txBody>
          <a:bodyPr anchor="t">
            <a:normAutofit/>
          </a:bodyPr>
          <a:lstStyle/>
          <a:p>
            <a:pPr algn="ctr"/>
            <a:r>
              <a:rPr lang="fi-FI" sz="4800" dirty="0"/>
              <a:t>kävijälaskuri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A836384-388F-8FE9-1F51-64C1DCF560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5216955"/>
            <a:ext cx="5804616" cy="1003638"/>
          </a:xfrm>
        </p:spPr>
        <p:txBody>
          <a:bodyPr anchor="b">
            <a:norm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Iina Hirvonen 2026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04096B3-B988-A7B5-E7B0-5610F2F19E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62326" y="727509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81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139AE4-E000-F65F-E2F3-430D7C692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6D797655-831F-9D6D-5B9B-8CB47DFF2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05C6316B-B5E8-E332-7232-5E8B3E23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51E7180A-078C-F541-9FD9-6E8415F368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en-US" sz="2800" dirty="0"/>
              <a:t>Tarkoitus</a:t>
            </a:r>
            <a:endParaRPr lang="fi-FI" sz="2800" b="1" dirty="0"/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D01FB40-E186-1497-E084-9BBFDFCF54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Ohjelman tarkoitus on helpottaa kävijöiden laskemista ja tilastointia esim. vapaa-ajan toimintapisteissä. Käyttäjä voi tallentaa tiedot nopeasti yhdellä painalluksella ilman monimutkaisia lomakkeita/ hankalia sisään kirjautumisia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1A6D7618-945D-D01D-0CE4-2C27182E23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22D79FCD-DC0C-2B6E-54A1-27F64DB034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4867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763DBF-0AB3-83EB-52E3-BC549AEAB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89D84CD1-682B-5D44-D823-E451B23B05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34D806A7-FBCB-6E3E-0717-8FD2280463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A9BDBA6-55E4-087C-03B0-10D880CC25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Kiinnostavimmat kohdat koodissa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787C5A07-40CC-7AAD-994A-941583C992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1969477"/>
            <a:ext cx="3380437" cy="4164623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os.makedirs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	        "raportit",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exist_ok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endParaRPr lang="fi-FI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)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#luodaan kansio raportit, ei haittaa vaikka olisi jo olemassa</a:t>
            </a:r>
          </a:p>
          <a:p>
            <a:pPr>
              <a:lnSpc>
                <a:spcPct val="100000"/>
              </a:lnSpc>
            </a:pPr>
            <a:endParaRPr lang="fi-FI" sz="1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ikkuna.after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2000,                                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   lambda: 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status_label.config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text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="")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#ilmoituksen häviämisen viive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56876A27-A77E-F8BC-622B-D8BB30826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B32D3FF8-4740-4399-C869-AE611531C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260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424D2-975A-4743-41E3-D69C2D15E0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86A9F0FE-0911-ED99-4DAF-8C3B128EF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CE300D69-38B0-8C8E-18BC-5147672A9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76F6037A-1BC9-C555-A68E-18935342CA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Mitä opin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1F8DD9F3-A568-CDA1-BA5A-22A1382FEF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Ulkoasun muokkaaminen halutuksi on aikaa vievää. Pienetkin asiat vaikuttavat paljon.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Miten ilmoitus saadaan häviämään.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Lambda –funktion käytön (käytetään yleensä väliaikaisena funktiona, kun tarvitaan lyhyttä logiikkaa jota ei käytetä kuin yhdessä paikassa, eikä sille tarvitse antaa nimeä).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948CE341-5FC5-AEFF-EDB4-2EBE653F0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CBF3BD9B-C357-017D-AAD2-96A75D5B04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4997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5499FE-0850-FF70-ED28-210109DB8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E1FCB1A4-45AE-8DB7-441E-91CBFCA13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0986F0EF-D16B-4D12-DDEE-27EE96F6F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3A08756B-8068-C13A-757A-9BA275F79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3620882" cy="1301148"/>
          </a:xfrm>
        </p:spPr>
        <p:txBody>
          <a:bodyPr anchor="t">
            <a:normAutofit fontScale="90000"/>
          </a:bodyPr>
          <a:lstStyle/>
          <a:p>
            <a:r>
              <a:rPr lang="fi-FI" sz="2800" b="1" dirty="0"/>
              <a:t>Mitä haluisin tehdä jos olisi enemmän aikaa ja osaamista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64A77749-9786-D700-B7CB-E0298C2BA5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400" y="2656114"/>
            <a:ext cx="3380437" cy="3139990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Haluaisin piilottaa tallennetut tiedostot salasanan taakse.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Tehdä toimivan apin/verkkosivun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Lisäisin myös vaihtoehdot kieliin EN, FI, SV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9C78506A-AFB3-779A-DFA2-85C17376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Tietokoneen komentosarja näytöllä">
            <a:extLst>
              <a:ext uri="{FF2B5EF4-FFF2-40B4-BE49-F238E27FC236}">
                <a16:creationId xmlns:a16="http://schemas.microsoft.com/office/drawing/2014/main" id="{8F3AF94D-703F-B5D0-086B-671EFEDA1F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8793" b="-1"/>
          <a:stretch>
            <a:fillRect/>
          </a:stretch>
        </p:blipFill>
        <p:spPr>
          <a:xfrm>
            <a:off x="4876158" y="10"/>
            <a:ext cx="7315841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8481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A5FABA-EAE5-4044-4099-470B78CF3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26">
            <a:extLst>
              <a:ext uri="{FF2B5EF4-FFF2-40B4-BE49-F238E27FC236}">
                <a16:creationId xmlns:a16="http://schemas.microsoft.com/office/drawing/2014/main" id="{B01BD09F-2A03-224D-192E-C2168114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4" name="Rectangle 28">
            <a:extLst>
              <a:ext uri="{FF2B5EF4-FFF2-40B4-BE49-F238E27FC236}">
                <a16:creationId xmlns:a16="http://schemas.microsoft.com/office/drawing/2014/main" id="{24E2FB04-19D2-CA62-A65E-6FA36DB8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Otsikko 1">
            <a:extLst>
              <a:ext uri="{FF2B5EF4-FFF2-40B4-BE49-F238E27FC236}">
                <a16:creationId xmlns:a16="http://schemas.microsoft.com/office/drawing/2014/main" id="{96284540-FAE3-1710-CB22-60AFF30AE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400" y="908652"/>
            <a:ext cx="2088478" cy="1301099"/>
          </a:xfrm>
        </p:spPr>
        <p:txBody>
          <a:bodyPr anchor="t">
            <a:normAutofit/>
          </a:bodyPr>
          <a:lstStyle/>
          <a:p>
            <a:r>
              <a:rPr lang="fi-FI" sz="2800" b="1" dirty="0"/>
              <a:t>Miltä </a:t>
            </a:r>
            <a:br>
              <a:rPr lang="fi-FI" sz="2800" b="1" dirty="0"/>
            </a:br>
            <a:r>
              <a:rPr lang="fi-FI" sz="2800" b="1" dirty="0"/>
              <a:t>näyttää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FC125FC5-C38A-D3EF-E2E1-C19726B825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99" y="2394551"/>
            <a:ext cx="2039801" cy="4082492"/>
          </a:xfrm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Kuvissa: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Kävijälaskuri ikkuna</a:t>
            </a:r>
          </a:p>
          <a:p>
            <a:pPr>
              <a:lnSpc>
                <a:spcPct val="100000"/>
              </a:lnSpc>
            </a:pPr>
            <a:r>
              <a:rPr lang="fi-FI" sz="1400" dirty="0" err="1">
                <a:latin typeface="Consolas" panose="020B0609020204030204" pitchFamily="49" charset="0"/>
                <a:cs typeface="Consolas" panose="020B0609020204030204" pitchFamily="49" charset="0"/>
              </a:rPr>
              <a:t>Data.json</a:t>
            </a: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 tiedosto</a:t>
            </a:r>
          </a:p>
          <a:p>
            <a:pPr>
              <a:lnSpc>
                <a:spcPct val="100000"/>
              </a:lnSpc>
            </a:pPr>
            <a:r>
              <a:rPr lang="fi-FI" sz="1400" dirty="0">
                <a:latin typeface="Consolas" panose="020B0609020204030204" pitchFamily="49" charset="0"/>
                <a:cs typeface="Consolas" panose="020B0609020204030204" pitchFamily="49" charset="0"/>
              </a:rPr>
              <a:t>Kuukausi- ja kvartaaliraportti</a:t>
            </a:r>
          </a:p>
        </p:txBody>
      </p:sp>
      <p:cxnSp>
        <p:nvCxnSpPr>
          <p:cNvPr id="35" name="Straight Connector 30">
            <a:extLst>
              <a:ext uri="{FF2B5EF4-FFF2-40B4-BE49-F238E27FC236}">
                <a16:creationId xmlns:a16="http://schemas.microsoft.com/office/drawing/2014/main" id="{4E09C9F7-A144-6FE8-FC77-E430E9ED2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Kuva 17">
            <a:extLst>
              <a:ext uri="{FF2B5EF4-FFF2-40B4-BE49-F238E27FC236}">
                <a16:creationId xmlns:a16="http://schemas.microsoft.com/office/drawing/2014/main" id="{55884089-813C-07D4-B76E-DA932C397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4231" y="5136113"/>
            <a:ext cx="4289011" cy="1371905"/>
          </a:xfrm>
          <a:prstGeom prst="rect">
            <a:avLst/>
          </a:prstGeom>
        </p:spPr>
      </p:pic>
      <p:pic>
        <p:nvPicPr>
          <p:cNvPr id="20" name="Kuva 19">
            <a:extLst>
              <a:ext uri="{FF2B5EF4-FFF2-40B4-BE49-F238E27FC236}">
                <a16:creationId xmlns:a16="http://schemas.microsoft.com/office/drawing/2014/main" id="{99F8AE06-CBEC-8B22-73C9-59E3096D5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49117" y="5136113"/>
            <a:ext cx="4357815" cy="1371905"/>
          </a:xfrm>
          <a:prstGeom prst="rect">
            <a:avLst/>
          </a:prstGeom>
        </p:spPr>
      </p:pic>
      <p:pic>
        <p:nvPicPr>
          <p:cNvPr id="22" name="Kuva 21">
            <a:extLst>
              <a:ext uri="{FF2B5EF4-FFF2-40B4-BE49-F238E27FC236}">
                <a16:creationId xmlns:a16="http://schemas.microsoft.com/office/drawing/2014/main" id="{3E81FE95-7978-C609-2E18-CEC6279AC3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9117" y="349982"/>
            <a:ext cx="3101565" cy="4641401"/>
          </a:xfrm>
          <a:prstGeom prst="rect">
            <a:avLst/>
          </a:prstGeom>
        </p:spPr>
      </p:pic>
      <p:pic>
        <p:nvPicPr>
          <p:cNvPr id="24" name="Kuva 23">
            <a:extLst>
              <a:ext uri="{FF2B5EF4-FFF2-40B4-BE49-F238E27FC236}">
                <a16:creationId xmlns:a16="http://schemas.microsoft.com/office/drawing/2014/main" id="{EAABC93D-2727-0013-FD88-6DB80B257D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07921" y="349982"/>
            <a:ext cx="5565321" cy="464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175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4572</TotalTime>
  <Words>181</Words>
  <Application>Microsoft Macintosh PowerPoint</Application>
  <PresentationFormat>Laajakuva</PresentationFormat>
  <Paragraphs>31</Paragraphs>
  <Slides>6</Slides>
  <Notes>4</Notes>
  <HiddenSlides>0</HiddenSlides>
  <MMClips>0</MMClips>
  <ScaleCrop>false</ScaleCrop>
  <HeadingPairs>
    <vt:vector size="6" baseType="variant">
      <vt:variant>
        <vt:lpstr>Käytetyt fontit</vt:lpstr>
      </vt:variant>
      <vt:variant>
        <vt:i4>6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6</vt:i4>
      </vt:variant>
    </vt:vector>
  </HeadingPairs>
  <TitlesOfParts>
    <vt:vector size="13" baseType="lpstr">
      <vt:lpstr>Aptos</vt:lpstr>
      <vt:lpstr>Arial</vt:lpstr>
      <vt:lpstr>Calisto MT</vt:lpstr>
      <vt:lpstr>Consolas</vt:lpstr>
      <vt:lpstr>Neue Haas Grotesk Text Pro</vt:lpstr>
      <vt:lpstr>Univers Condensed</vt:lpstr>
      <vt:lpstr>ChronicleVTI</vt:lpstr>
      <vt:lpstr>kävijälaskuri</vt:lpstr>
      <vt:lpstr>Tarkoitus</vt:lpstr>
      <vt:lpstr>Kiinnostavimmat kohdat koodissa</vt:lpstr>
      <vt:lpstr>Mitä opin</vt:lpstr>
      <vt:lpstr>Mitä haluisin tehdä jos olisi enemmän aikaa ja osaamista</vt:lpstr>
      <vt:lpstr>Miltä  näyttää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iina-maria.hirvonen</dc:creator>
  <cp:keywords/>
  <dc:description/>
  <cp:lastModifiedBy>iina-maria.hirvonen</cp:lastModifiedBy>
  <cp:revision>2</cp:revision>
  <dcterms:created xsi:type="dcterms:W3CDTF">2026-05-22T07:24:00Z</dcterms:created>
  <dcterms:modified xsi:type="dcterms:W3CDTF">2026-05-25T11:50:49Z</dcterms:modified>
  <cp:category/>
</cp:coreProperties>
</file>